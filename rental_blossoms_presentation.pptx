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833"/>
        </a:solidFill>
        <a:effectLst/>
      </p:bgPr>
    </p:bg>
    <p:spTree>
      <p:nvGrpSpPr>
        <p:cNvPr id="1" name=""/>
        <p:cNvGrpSpPr/>
        <p:nvPr/>
      </p:nvGrpSpPr>
      <p:grpSpPr/>
      <p:sp>
        <p:nvSpPr>
          <p:cNvPr id="2" name="TextBox 1"/>
          <p:cNvSpPr txBox="1"/>
          <p:nvPr/>
        </p:nvSpPr>
        <p:spPr>
          <a:xfrm>
            <a:off x="457200" y="2011680"/>
            <a:ext cx="8229600" cy="2743200"/>
          </a:xfrm>
          <a:prstGeom prst="rect">
            <a:avLst/>
          </a:prstGeom>
          <a:noFill/>
        </p:spPr>
        <p:txBody>
          <a:bodyPr wrap="square">
            <a:spAutoFit/>
          </a:bodyPr>
          <a:lstStyle/>
          <a:p>
            <a:pPr algn="ctr">
              <a:defRPr sz="5400" b="1">
                <a:solidFill>
                  <a:srgbClr val="4ADE80"/>
                </a:solidFill>
                <a:latin typeface="Segoe UI"/>
              </a:defRPr>
            </a:pPr>
            <a:r>
              <a:t>Rental Blossoms</a:t>
            </a:r>
          </a:p>
          <a:p>
            <a:pPr algn="ctr">
              <a:defRPr sz="2200">
                <a:solidFill>
                  <a:srgbClr val="FFFFFF"/>
                </a:solidFill>
                <a:latin typeface="Segoe UI"/>
              </a:defRPr>
            </a:pPr>
            <a:r>
              <a:t>FairShare: Smart Co-Living &amp; Bill Splitter</a:t>
            </a:r>
          </a:p>
          <a:p>
            <a:br/>
            <a:pPr algn="ctr">
              <a:defRPr sz="1400" i="1">
                <a:solidFill>
                  <a:srgbClr val="94A3B8"/>
                </a:solidFill>
                <a:latin typeface="Segoe UI"/>
              </a:defRPr>
            </a:pPr>
            <a:r>
              <a:t>Full Technical System Walkthrough &amp; Architecture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833"/>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3600" b="1">
                <a:solidFill>
                  <a:srgbClr val="FFFFFF"/>
                </a:solidFill>
                <a:latin typeface="Segoe UI"/>
              </a:defRPr>
            </a:pPr>
            <a:r>
              <a:t>The Problem &amp; The Solution</a:t>
            </a:r>
          </a:p>
          <a:p>
            <a:pPr>
              <a:defRPr sz="1400">
                <a:solidFill>
                  <a:srgbClr val="94A3B8"/>
                </a:solidFill>
                <a:latin typeface="Segoe UI"/>
              </a:defRPr>
            </a:pPr>
            <a:r>
              <a:t>Why Rental Blossoms (FairShare) exists</a:t>
            </a:r>
          </a:p>
        </p:txBody>
      </p:sp>
      <p:sp>
        <p:nvSpPr>
          <p:cNvPr id="3" name="TextBox 2"/>
          <p:cNvSpPr txBox="1"/>
          <p:nvPr/>
        </p:nvSpPr>
        <p:spPr>
          <a:xfrm>
            <a:off x="457200" y="1371600"/>
            <a:ext cx="8229600" cy="4572000"/>
          </a:xfrm>
          <a:prstGeom prst="rect">
            <a:avLst/>
          </a:prstGeom>
          <a:noFill/>
        </p:spPr>
        <p:txBody>
          <a:bodyPr wrap="square">
            <a:spAutoFit/>
          </a:bodyPr>
          <a:lstStyle/>
          <a:p>
            <a:pPr>
              <a:defRPr sz="1800" b="1">
                <a:solidFill>
                  <a:srgbClr val="FB7185"/>
                </a:solidFill>
                <a:latin typeface="Segoe UI"/>
              </a:defRPr>
            </a:pPr>
            <a:r>
              <a:t>THE PROBLEM:</a:t>
            </a:r>
          </a:p>
          <a:p>
            <a:pPr lvl="1">
              <a:defRPr sz="1600">
                <a:solidFill>
                  <a:srgbClr val="FFFFFF"/>
                </a:solidFill>
              </a:defRPr>
            </a:pPr>
            <a:r>
              <a:t>• Manual Split calculations for shared bills (electricity, water, wifi) are error-prone.</a:t>
            </a:r>
          </a:p>
          <a:p>
            <a:pPr lvl="1">
              <a:defRPr sz="1600">
                <a:solidFill>
                  <a:srgbClr val="FFFFFF"/>
                </a:solidFill>
              </a:defRPr>
            </a:pPr>
            <a:r>
              <a:t>• Receipts get lost in messy chat histories, leaving no clear audit trail.</a:t>
            </a:r>
          </a:p>
          <a:p>
            <a:br/>
            <a:pPr>
              <a:defRPr sz="1800" b="1">
                <a:solidFill>
                  <a:srgbClr val="4ADE80"/>
                </a:solidFill>
                <a:latin typeface="Segoe UI"/>
              </a:defRPr>
            </a:pPr>
            <a:r>
              <a:t>THE SOLUTION: RENTAL BLOSSOMS (FAIRSHARE)</a:t>
            </a:r>
          </a:p>
          <a:p>
            <a:pPr lvl="1">
              <a:defRPr sz="1600">
                <a:solidFill>
                  <a:srgbClr val="FFFFFF"/>
                </a:solidFill>
              </a:defRPr>
            </a:pPr>
            <a:r>
              <a:t>• Real-time digital dashboard representing all expenses dynamically.</a:t>
            </a:r>
          </a:p>
          <a:p>
            <a:pPr lvl="1">
              <a:defRPr sz="1600">
                <a:solidFill>
                  <a:srgbClr val="FFFFFF"/>
                </a:solidFill>
              </a:defRPr>
            </a:pPr>
            <a:r>
              <a:t>• Secure receipt upload and persistence linked to database records.</a:t>
            </a:r>
          </a:p>
          <a:p>
            <a:pPr lvl="1">
              <a:defRPr sz="1600">
                <a:solidFill>
                  <a:srgbClr val="FFFFFF"/>
                </a:solidFill>
              </a:defRPr>
            </a:pPr>
            <a:r>
              <a:t>• Automatic PDF and Excel sheet generation for quick auditing.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1833"/>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3600" b="1">
                <a:solidFill>
                  <a:srgbClr val="FFFFFF"/>
                </a:solidFill>
                <a:latin typeface="Segoe UI"/>
              </a:defRPr>
            </a:pPr>
            <a:r>
              <a:t>System Architecture Overview</a:t>
            </a:r>
          </a:p>
          <a:p>
            <a:pPr>
              <a:defRPr sz="1400">
                <a:solidFill>
                  <a:srgbClr val="94A3B8"/>
                </a:solidFill>
                <a:latin typeface="Segoe UI"/>
              </a:defRPr>
            </a:pPr>
            <a:r>
              <a:t>How the frontend, backend, and database interact</a:t>
            </a:r>
          </a:p>
        </p:txBody>
      </p:sp>
      <p:sp>
        <p:nvSpPr>
          <p:cNvPr id="3" name="TextBox 2"/>
          <p:cNvSpPr txBox="1"/>
          <p:nvPr/>
        </p:nvSpPr>
        <p:spPr>
          <a:xfrm>
            <a:off x="457200" y="1371600"/>
            <a:ext cx="8229600" cy="4572000"/>
          </a:xfrm>
          <a:prstGeom prst="rect">
            <a:avLst/>
          </a:prstGeom>
          <a:noFill/>
        </p:spPr>
        <p:txBody>
          <a:bodyPr wrap="square">
            <a:spAutoFit/>
          </a:bodyPr>
          <a:lstStyle/>
          <a:p>
            <a:pPr>
              <a:defRPr sz="1800" b="1">
                <a:solidFill>
                  <a:srgbClr val="4F6BFF"/>
                </a:solidFill>
                <a:latin typeface="Segoe UI"/>
              </a:defRPr>
            </a:pPr>
            <a:r>
              <a:t>Our software follows a clean Client-Server Model:</a:t>
            </a:r>
          </a:p>
          <a:p>
            <a:pPr lvl="1">
              <a:defRPr sz="1500">
                <a:solidFill>
                  <a:srgbClr val="FFFFFF"/>
                </a:solidFill>
              </a:defRPr>
            </a:pPr>
            <a:r>
              <a:t>• Frontend (The Restaurant Table): Built with clean HTML, Vanilla CSS, and JavaScript. Users see details and order actions.</a:t>
            </a:r>
          </a:p>
          <a:p>
            <a:pPr lvl="1">
              <a:defRPr sz="1500">
                <a:solidFill>
                  <a:srgbClr val="FFFFFF"/>
                </a:solidFill>
              </a:defRPr>
            </a:pPr>
            <a:r>
              <a:t>• HTTP Requests (The Waiter): Asynchronous JavaScript Fetch API queries act as the bridge, conveying JSON data over the network.</a:t>
            </a:r>
          </a:p>
          <a:p>
            <a:pPr lvl="1">
              <a:defRPr sz="1500">
                <a:solidFill>
                  <a:srgbClr val="FFFFFF"/>
                </a:solidFill>
              </a:defRPr>
            </a:pPr>
            <a:r>
              <a:t>• Flask Server (The Kitchen / app.py): Directs traffic, processes computations, verifies login sessions, and serves files.</a:t>
            </a:r>
          </a:p>
          <a:p>
            <a:pPr lvl="1">
              <a:defRPr sz="1500">
                <a:solidFill>
                  <a:srgbClr val="FFFFFF"/>
                </a:solidFill>
              </a:defRPr>
            </a:pPr>
            <a:r>
              <a:t>• SQLite Database (The Pantry / database.py): Keeps a persistent and structured ledger of users and expenses.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1833"/>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3600" b="1">
                <a:solidFill>
                  <a:srgbClr val="FFFFFF"/>
                </a:solidFill>
                <a:latin typeface="Segoe UI"/>
              </a:defRPr>
            </a:pPr>
            <a:r>
              <a:t>Database Layer: sqlite3 &amp; database.py</a:t>
            </a:r>
          </a:p>
          <a:p>
            <a:pPr>
              <a:defRPr sz="1400">
                <a:solidFill>
                  <a:srgbClr val="94A3B8"/>
                </a:solidFill>
                <a:latin typeface="Segoe UI"/>
              </a:defRPr>
            </a:pPr>
            <a:r>
              <a:t>Robust local persistence with safety migrations</a:t>
            </a:r>
          </a:p>
        </p:txBody>
      </p:sp>
      <p:sp>
        <p:nvSpPr>
          <p:cNvPr id="3" name="TextBox 2"/>
          <p:cNvSpPr txBox="1"/>
          <p:nvPr/>
        </p:nvSpPr>
        <p:spPr>
          <a:xfrm>
            <a:off x="457200" y="1371600"/>
            <a:ext cx="8229600" cy="4572000"/>
          </a:xfrm>
          <a:prstGeom prst="rect">
            <a:avLst/>
          </a:prstGeom>
          <a:noFill/>
        </p:spPr>
        <p:txBody>
          <a:bodyPr wrap="square">
            <a:spAutoFit/>
          </a:bodyPr>
          <a:lstStyle/>
          <a:p>
            <a:pPr>
              <a:defRPr sz="1800" b="1">
                <a:solidFill>
                  <a:srgbClr val="4ADE80"/>
                </a:solidFill>
                <a:latin typeface="Segoe UI"/>
              </a:defRPr>
            </a:pPr>
            <a:r>
              <a:t>Key SQLite &amp; database.py Features:</a:t>
            </a:r>
          </a:p>
          <a:p>
            <a:pPr lvl="1">
              <a:defRPr sz="1500">
                <a:solidFill>
                  <a:srgbClr val="FFFFFF"/>
                </a:solidFill>
              </a:defRPr>
            </a:pPr>
            <a:r>
              <a:t>• Row Factory Access: Uses conn.row_factory = sqlite3.Row. This allows developers to reference query results by column names (e.g. row['amount']) rather than hardcoded indexes (e.g. row[3]).</a:t>
            </a:r>
          </a:p>
          <a:p>
            <a:pPr lvl="1">
              <a:defRPr sz="1500">
                <a:solidFill>
                  <a:srgbClr val="FFFFFF"/>
                </a:solidFill>
              </a:defRPr>
            </a:pPr>
            <a:r>
              <a:t>• Auto-Migration System: On every startup, it runs PRAGMA table_info(expenses) to check structure. If update columns are missing, it appends them dynamically (e.g. ALTER TABLE) without wiping out user database records.</a:t>
            </a:r>
          </a:p>
          <a:p>
            <a:pPr lvl="1">
              <a:defRPr sz="1500">
                <a:solidFill>
                  <a:srgbClr val="FFFFFF"/>
                </a:solidFill>
              </a:defRPr>
            </a:pPr>
            <a:r>
              <a:t>• DB Seeding: Automatically pre-populates default mock data (Rooms A-E) if the db is fresh, allowing instant demo capability.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833"/>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3600" b="1">
                <a:solidFill>
                  <a:srgbClr val="FFFFFF"/>
                </a:solidFill>
                <a:latin typeface="Segoe UI"/>
              </a:defRPr>
            </a:pPr>
            <a:r>
              <a:t>Flask Backend: app.py API</a:t>
            </a:r>
          </a:p>
          <a:p>
            <a:pPr>
              <a:defRPr sz="1400">
                <a:solidFill>
                  <a:srgbClr val="94A3B8"/>
                </a:solidFill>
                <a:latin typeface="Segoe UI"/>
              </a:defRPr>
            </a:pPr>
            <a:r>
              <a:t>Serving files, processing endpoints, and security</a:t>
            </a:r>
          </a:p>
        </p:txBody>
      </p:sp>
      <p:sp>
        <p:nvSpPr>
          <p:cNvPr id="3" name="TextBox 2"/>
          <p:cNvSpPr txBox="1"/>
          <p:nvPr/>
        </p:nvSpPr>
        <p:spPr>
          <a:xfrm>
            <a:off x="457200" y="1371600"/>
            <a:ext cx="8229600" cy="4572000"/>
          </a:xfrm>
          <a:prstGeom prst="rect">
            <a:avLst/>
          </a:prstGeom>
          <a:noFill/>
        </p:spPr>
        <p:txBody>
          <a:bodyPr wrap="square">
            <a:spAutoFit/>
          </a:bodyPr>
          <a:lstStyle/>
          <a:p>
            <a:pPr>
              <a:defRPr sz="1800" b="1">
                <a:solidFill>
                  <a:srgbClr val="FB7185"/>
                </a:solidFill>
                <a:latin typeface="Segoe UI"/>
              </a:defRPr>
            </a:pPr>
            <a:r>
              <a:t>Central Server Features (Port 5000):</a:t>
            </a:r>
          </a:p>
          <a:p>
            <a:pPr lvl="1">
              <a:defRPr sz="1500">
                <a:solidFill>
                  <a:srgbClr val="FFFFFF"/>
                </a:solidFill>
              </a:defRPr>
            </a:pPr>
            <a:r>
              <a:t>• Session-based Authentication: Secure login/signup handlers using Flask's native session management and SHA-256 hashed password checks.</a:t>
            </a:r>
          </a:p>
          <a:p>
            <a:pPr lvl="1">
              <a:defRPr sz="1500">
                <a:solidFill>
                  <a:srgbClr val="FFFFFF"/>
                </a:solidFill>
              </a:defRPr>
            </a:pPr>
            <a:r>
              <a:t>• Asynchronous REST API Endpoints: Handles GET /api/expenses to load ledger entries and POST /api/expenses to save new ones.</a:t>
            </a:r>
          </a:p>
          <a:p>
            <a:pPr lvl="1">
              <a:defRPr sz="1500">
                <a:solidFill>
                  <a:srgbClr val="FFFFFF"/>
                </a:solidFill>
              </a:defRPr>
            </a:pPr>
            <a:r>
              <a:t>• Secure File Uploads: Employs secure_filename() to sanitize user-provided file names. Restricts uploads strictly to images (PNG, JPG) and PDF, preventing path-traversal scripts from hacking the host 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11833"/>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3600" b="1">
                <a:solidFill>
                  <a:srgbClr val="FFFFFF"/>
                </a:solidFill>
                <a:latin typeface="Segoe UI"/>
              </a:defRPr>
            </a:pPr>
            <a:r>
              <a:t>Frontend Integration: JS &amp; CSS</a:t>
            </a:r>
          </a:p>
          <a:p>
            <a:pPr>
              <a:defRPr sz="1400">
                <a:solidFill>
                  <a:srgbClr val="94A3B8"/>
                </a:solidFill>
                <a:latin typeface="Segoe UI"/>
              </a:defRPr>
            </a:pPr>
            <a:r>
              <a:t>Making the dashboard alive, responsive, and dynamic</a:t>
            </a:r>
          </a:p>
        </p:txBody>
      </p:sp>
      <p:sp>
        <p:nvSpPr>
          <p:cNvPr id="3" name="TextBox 2"/>
          <p:cNvSpPr txBox="1"/>
          <p:nvPr/>
        </p:nvSpPr>
        <p:spPr>
          <a:xfrm>
            <a:off x="457200" y="1371600"/>
            <a:ext cx="8229600" cy="4572000"/>
          </a:xfrm>
          <a:prstGeom prst="rect">
            <a:avLst/>
          </a:prstGeom>
          <a:noFill/>
        </p:spPr>
        <p:txBody>
          <a:bodyPr wrap="square">
            <a:spAutoFit/>
          </a:bodyPr>
          <a:lstStyle/>
          <a:p>
            <a:pPr>
              <a:defRPr sz="1800" b="1">
                <a:solidFill>
                  <a:srgbClr val="4F6BFF"/>
                </a:solidFill>
                <a:latin typeface="Segoe UI"/>
              </a:defRPr>
            </a:pPr>
            <a:r>
              <a:t>How JS &amp; CSS Deliver a Premium User Experience:</a:t>
            </a:r>
          </a:p>
          <a:p>
            <a:pPr lvl="1">
              <a:defRPr sz="1500">
                <a:solidFill>
                  <a:srgbClr val="FFFFFF"/>
                </a:solidFill>
              </a:defRPr>
            </a:pPr>
            <a:r>
              <a:t>• Two-Step Network Handshake: Adding a bill does two things. First, it POSTs the physical receipt file to the server and retrieves the saved path. Second, it POSTs the JSON payload including that receipt path to the database. This separates heavy file traffic from structured records.</a:t>
            </a:r>
          </a:p>
          <a:p>
            <a:pPr lvl="1">
              <a:defRPr sz="1500">
                <a:solidFill>
                  <a:srgbClr val="FFFFFF"/>
                </a:solidFill>
              </a:defRPr>
            </a:pPr>
            <a:r>
              <a:t>• Chart.js Integration: Aggregates room-by-room totals client-side and renders a responsive, high-performance doughnut chart reflecting active split proportions.</a:t>
            </a:r>
          </a:p>
          <a:p>
            <a:pPr lvl="1">
              <a:defRPr sz="1500">
                <a:solidFill>
                  <a:srgbClr val="FFFFFF"/>
                </a:solidFill>
              </a:defRPr>
            </a:pPr>
            <a:r>
              <a:t>• Theme Styling: Custom theme selectors apply custom room tags and colors so tenants can identify their bills instantly.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1833"/>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3600" b="1">
                <a:solidFill>
                  <a:srgbClr val="FFFFFF"/>
                </a:solidFill>
                <a:latin typeface="Segoe UI"/>
              </a:defRPr>
            </a:pPr>
            <a:r>
              <a:t>Integrated Reporting Engines</a:t>
            </a:r>
          </a:p>
          <a:p>
            <a:pPr>
              <a:defRPr sz="1400">
                <a:solidFill>
                  <a:srgbClr val="94A3B8"/>
                </a:solidFill>
                <a:latin typeface="Segoe UI"/>
              </a:defRPr>
            </a:pPr>
            <a:r>
              <a:t>Compiling production reports in app.py</a:t>
            </a:r>
          </a:p>
        </p:txBody>
      </p:sp>
      <p:sp>
        <p:nvSpPr>
          <p:cNvPr id="3" name="TextBox 2"/>
          <p:cNvSpPr txBox="1"/>
          <p:nvPr/>
        </p:nvSpPr>
        <p:spPr>
          <a:xfrm>
            <a:off x="457200" y="1371600"/>
            <a:ext cx="8229600" cy="4572000"/>
          </a:xfrm>
          <a:prstGeom prst="rect">
            <a:avLst/>
          </a:prstGeom>
          <a:noFill/>
        </p:spPr>
        <p:txBody>
          <a:bodyPr wrap="square">
            <a:spAutoFit/>
          </a:bodyPr>
          <a:lstStyle/>
          <a:p>
            <a:pPr>
              <a:defRPr sz="1800" b="1">
                <a:solidFill>
                  <a:srgbClr val="4ADE80"/>
                </a:solidFill>
                <a:latin typeface="Segoe UI"/>
              </a:defRPr>
            </a:pPr>
            <a:r>
              <a:t>Landlords can generate two rich file formats instantly:</a:t>
            </a:r>
          </a:p>
          <a:p>
            <a:pPr lvl="1">
              <a:defRPr sz="1500">
                <a:solidFill>
                  <a:srgbClr val="FFFFFF"/>
                </a:solidFill>
              </a:defRPr>
            </a:pPr>
            <a:r>
              <a:t>• Excel Report Engine (openpyxl): Queries the SQLite database, builds a spreadsheet workbook, applies custom typography styles, formats the currency column as ('RM'#,##0.00), auto-resizes columns, and returns a downloadable .xlsx file.</a:t>
            </a:r>
          </a:p>
          <a:p>
            <a:pPr lvl="1">
              <a:defRPr sz="1500">
                <a:solidFill>
                  <a:srgbClr val="FFFFFF"/>
                </a:solidFill>
              </a:defRPr>
            </a:pPr>
            <a:r>
              <a:t>• PDF Report Engine (reportlab): Builds a structured document using flowable objects. Highlights header rows in navy blue, aggregates total transaction values programmatically, handles tabular page layout margins, and serves a crisp vector printout.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833"/>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3600" b="1">
                <a:solidFill>
                  <a:srgbClr val="FFFFFF"/>
                </a:solidFill>
                <a:latin typeface="Segoe UI"/>
              </a:defRPr>
            </a:pPr>
            <a:r>
              <a:t>Standalone Export Microservices</a:t>
            </a:r>
          </a:p>
          <a:p>
            <a:pPr>
              <a:defRPr sz="1400">
                <a:solidFill>
                  <a:srgbClr val="94A3B8"/>
                </a:solidFill>
                <a:latin typeface="Segoe UI"/>
              </a:defRPr>
            </a:pPr>
            <a:r>
              <a:t>Decoupled reporting modules for high scale</a:t>
            </a:r>
          </a:p>
        </p:txBody>
      </p:sp>
      <p:sp>
        <p:nvSpPr>
          <p:cNvPr id="3" name="TextBox 2"/>
          <p:cNvSpPr txBox="1"/>
          <p:nvPr/>
        </p:nvSpPr>
        <p:spPr>
          <a:xfrm>
            <a:off x="457200" y="1371600"/>
            <a:ext cx="8229600" cy="4572000"/>
          </a:xfrm>
          <a:prstGeom prst="rect">
            <a:avLst/>
          </a:prstGeom>
          <a:noFill/>
        </p:spPr>
        <p:txBody>
          <a:bodyPr wrap="square">
            <a:spAutoFit/>
          </a:bodyPr>
          <a:lstStyle/>
          <a:p>
            <a:pPr>
              <a:defRPr sz="1800" b="1">
                <a:solidFill>
                  <a:srgbClr val="FB7185"/>
                </a:solidFill>
                <a:latin typeface="Segoe UI"/>
              </a:defRPr>
            </a:pPr>
            <a:r>
              <a:t>Isolated Microservices:</a:t>
            </a:r>
          </a:p>
          <a:p>
            <a:pPr lvl="1">
              <a:defRPr sz="1500">
                <a:solidFill>
                  <a:srgbClr val="FFFFFF"/>
                </a:solidFill>
              </a:defRPr>
            </a:pPr>
            <a:r>
              <a:t>• Excel Service (ExcelExport.py - Port 5001): Standalone Flask instance simulating specialized Excel compile operations.</a:t>
            </a:r>
          </a:p>
          <a:p>
            <a:pPr lvl="1">
              <a:defRPr sz="1500">
                <a:solidFill>
                  <a:srgbClr val="FFFFFF"/>
                </a:solidFill>
              </a:defRPr>
            </a:pPr>
            <a:r>
              <a:t>• PDF Service (pdfExport.py - Port 5002): Standalone Flask instance compiling PDF document formats on an isolated process.</a:t>
            </a:r>
          </a:p>
          <a:p>
            <a:pPr lvl="1">
              <a:defRPr sz="1500">
                <a:solidFill>
                  <a:srgbClr val="FFFFFF"/>
                </a:solidFill>
              </a:defRPr>
            </a:pPr>
            <a:r>
              <a:t>• Architectural Value: Shows how the application can scale. Offloading heavy file processing to separate ports prevents the core Flask API server (Port 5000) from slowing down during high-traffic landlord audits.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833"/>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3600" b="1">
                <a:solidFill>
                  <a:srgbClr val="FFFFFF"/>
                </a:solidFill>
                <a:latin typeface="Segoe UI"/>
              </a:defRPr>
            </a:pPr>
            <a:r>
              <a:t>Summary &amp; Questions</a:t>
            </a:r>
          </a:p>
          <a:p>
            <a:pPr>
              <a:defRPr sz="1400">
                <a:solidFill>
                  <a:srgbClr val="94A3B8"/>
                </a:solidFill>
                <a:latin typeface="Segoe UI"/>
              </a:defRPr>
            </a:pPr>
            <a:r>
              <a:t>Thank you for listening!</a:t>
            </a:r>
          </a:p>
        </p:txBody>
      </p:sp>
      <p:sp>
        <p:nvSpPr>
          <p:cNvPr id="3" name="TextBox 2"/>
          <p:cNvSpPr txBox="1"/>
          <p:nvPr/>
        </p:nvSpPr>
        <p:spPr>
          <a:xfrm>
            <a:off x="457200" y="1828800"/>
            <a:ext cx="8229600" cy="3657600"/>
          </a:xfrm>
          <a:prstGeom prst="rect">
            <a:avLst/>
          </a:prstGeom>
          <a:noFill/>
        </p:spPr>
        <p:txBody>
          <a:bodyPr wrap="square">
            <a:spAutoFit/>
          </a:bodyPr>
          <a:lstStyle/>
          <a:p>
            <a:pPr algn="ctr">
              <a:defRPr sz="2000" b="1">
                <a:solidFill>
                  <a:srgbClr val="4ADE80"/>
                </a:solidFill>
                <a:latin typeface="Segoe UI"/>
              </a:defRPr>
            </a:pPr>
            <a:r>
              <a:t>Rental Blossoms (FairShare) Key Strengths:</a:t>
            </a:r>
          </a:p>
          <a:p>
            <a:pPr algn="ctr">
              <a:defRPr sz="1600">
                <a:solidFill>
                  <a:srgbClr val="FFFFFF"/>
                </a:solidFill>
              </a:defRPr>
            </a:pPr>
            <a:r>
              <a:t>✓ Modern, responsive UI with real-time Chart.js graphics</a:t>
            </a:r>
          </a:p>
          <a:p>
            <a:pPr algn="ctr">
              <a:defRPr sz="1600">
                <a:solidFill>
                  <a:srgbClr val="FFFFFF"/>
                </a:solidFill>
              </a:defRPr>
            </a:pPr>
            <a:r>
              <a:t>✓ Resilient database layer with built-in safety columns migrations</a:t>
            </a:r>
          </a:p>
          <a:p>
            <a:pPr algn="ctr">
              <a:defRPr sz="1600">
                <a:solidFill>
                  <a:srgbClr val="FFFFFF"/>
                </a:solidFill>
              </a:defRPr>
            </a:pPr>
            <a:r>
              <a:t>✓ Multi-format reporting architecture with microservice compatibility</a:t>
            </a:r>
          </a:p>
          <a:p>
            <a:br/>
            <a:br/>
            <a:pPr algn="ctr">
              <a:defRPr sz="2800" b="1">
                <a:solidFill>
                  <a:srgbClr val="4F6BFF"/>
                </a:solidFill>
                <a:latin typeface="Segoe UI"/>
              </a:defRPr>
            </a:pPr>
            <a:r>
              <a:t>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